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C107"/>
                </a:solidFill>
                <a:latin typeface="Segoe UI"/>
              </a:defRPr>
            </a:pPr>
            <a:r>
              <a:t>FilmDB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Personalised Cinematic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Powered by Deterministic AI &amp; Structured Knowledge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572000"/>
            <a:ext cx="3931920" cy="254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Segoe UI"/>
              </a:defRPr>
            </a:pPr>
            <a:r>
              <a:t>Project Overview — Architecture &amp;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What is FilmDB?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Segoe UI"/>
              </a:defRPr>
            </a:pPr>
            <a:r>
              <a:t>FilmDB is a Q/A engine over a multi-layered movie knowledge base — capable of entity lookup, plot explanation, critic reviews, recommendations, filmography, and movie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74720" cy="1554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🎬  Entity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Movie metadata, ratings,</a:t>
            </a:r>
            <a:br/>
            <a:r>
              <a:t>cast, and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474720" cy="1554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📖  Plot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3375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Full Wikipedia plot</a:t>
            </a:r>
            <a:br/>
            <a:r>
              <a:t>summaries with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2743200"/>
            <a:ext cx="3474720" cy="1554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8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✍️  Critic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33375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Aggregated RT reviews</a:t>
            </a:r>
            <a:br/>
            <a:r>
              <a:t>with sentiment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3474720" cy="1554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⭐ 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Tag-based similarity</a:t>
            </a:r>
            <a:br/>
            <a:r>
              <a:t>from 32M user ratings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4572000"/>
            <a:ext cx="3474720" cy="1554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👤  Filmography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5166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Director/actor career</a:t>
            </a:r>
            <a:br/>
            <a:r>
              <a:t>from 2.4M person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8" y="4572000"/>
            <a:ext cx="3474720" cy="1554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8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🔀 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5166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Side-by-side movie</a:t>
            </a:r>
            <a:br/>
            <a:r>
              <a:t>data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Overall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End-to-end conversation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607" y="2011680"/>
            <a:ext cx="137160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Intent
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607" y="2011680"/>
            <a:ext cx="13716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27351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1087" y="2011680"/>
            <a:ext cx="137160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Entity
Resolver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1087" y="2011680"/>
            <a:ext cx="13716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1831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5567" y="2011680"/>
            <a:ext cx="137160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Routing
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5567" y="2011680"/>
            <a:ext cx="13716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6311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10047" y="2011680"/>
            <a:ext cx="137160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Tool
Executor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0047" y="2011680"/>
            <a:ext cx="1371600" cy="50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0791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4527" y="2011680"/>
            <a:ext cx="137160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Query
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64527" y="2011680"/>
            <a:ext cx="1371600" cy="50800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5271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19007" y="2011680"/>
            <a:ext cx="137160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Layout
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19007" y="2011680"/>
            <a:ext cx="1371600" cy="508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9751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73487" y="2011680"/>
            <a:ext cx="137160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Response
Formatter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73487" y="2011680"/>
            <a:ext cx="13716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User Query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→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2918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500">
                <a:solidFill>
                  <a:srgbClr val="FFC107"/>
                </a:solidFill>
                <a:latin typeface="Segoe UI"/>
              </a:rPr>
              <a:t>▸ </a:t>
            </a:r>
            <a:r>
              <a:rPr sz="1500">
                <a:solidFill>
                  <a:srgbClr val="B0B0C0"/>
                </a:solidFill>
                <a:latin typeface="Segoe UI"/>
              </a:rPr>
              <a:t>No layer bypasses another — deterministic, traceable pipeline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500">
                <a:solidFill>
                  <a:srgbClr val="FFC107"/>
                </a:solidFill>
                <a:latin typeface="Segoe UI"/>
              </a:rPr>
              <a:t>▸ </a:t>
            </a:r>
            <a:r>
              <a:rPr sz="1500">
                <a:solidFill>
                  <a:srgbClr val="B0B0C0"/>
                </a:solidFill>
                <a:latin typeface="Segoe UI"/>
              </a:rPr>
              <a:t>IntentAgent classifies user query into 23 intents via LLM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500">
                <a:solidFill>
                  <a:srgbClr val="FFC107"/>
                </a:solidFill>
                <a:latin typeface="Segoe UI"/>
              </a:rPr>
              <a:t>▸ </a:t>
            </a:r>
            <a:r>
              <a:rPr sz="1500">
                <a:solidFill>
                  <a:srgbClr val="B0B0C0"/>
                </a:solidFill>
                <a:latin typeface="Segoe UI"/>
              </a:rPr>
              <a:t>EntityResolver maps titles to canonical IMDb IDs using KB + fuzzy matching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500">
                <a:solidFill>
                  <a:srgbClr val="FFC107"/>
                </a:solidFill>
                <a:latin typeface="Segoe UI"/>
              </a:rPr>
              <a:t>▸ </a:t>
            </a:r>
            <a:r>
              <a:rPr sz="1500">
                <a:solidFill>
                  <a:srgbClr val="B0B0C0"/>
                </a:solidFill>
                <a:latin typeface="Segoe UI"/>
              </a:rPr>
              <a:t>RoutingMatrix selects which tools to call (KB-first, API fallback)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500">
                <a:solidFill>
                  <a:srgbClr val="FFC107"/>
                </a:solidFill>
                <a:latin typeface="Segoe UI"/>
              </a:rPr>
              <a:t>▸ </a:t>
            </a:r>
            <a:r>
              <a:rPr sz="1500">
                <a:solidFill>
                  <a:srgbClr val="B0B0C0"/>
                </a:solidFill>
                <a:latin typeface="Segoe UI"/>
              </a:rPr>
              <a:t>ToolExecutor runs tools in parallel with caching and governance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500">
                <a:solidFill>
                  <a:srgbClr val="FFC107"/>
                </a:solidFill>
                <a:latin typeface="Segoe UI"/>
              </a:rPr>
              <a:t>▸ </a:t>
            </a:r>
            <a:r>
              <a:rPr sz="1500">
                <a:solidFill>
                  <a:srgbClr val="B0B0C0"/>
                </a:solidFill>
                <a:latin typeface="Segoe UI"/>
              </a:rPr>
              <a:t>LayoutPolicy decides response format (FULL_CARD, RECOMMENDATION_GRID, ANALYSIS_TEXT…)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1 — Intent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LLM-powered intent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What it does: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Classifies the user's message into one of 23 intents, extracts entities (movie titles, person names, genres, years), and assigns a confidence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23 Supported Intents: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ENTITY_LOOKUP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PLOT_EXPLANATION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CRITIC_SUMMARY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MOVIE_SIMILARITY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RECOMMENDATION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TOP_RATED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FILMOGRAPHY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PERSON_LOOKUP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COMPARISON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STREAMING_AVAILABILITY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TRENDING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UPCOMING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9319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REVIEWS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AVAILABILITY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DOWNLOAD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LEGAL_DOWNLOAD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ILLEGAL_DOWNLOAD_REQUEST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STREAMING_DISCOVERY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AWARD_LOOKUP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ANALYTICAL_EXPLANATION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OFFICIAL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GREETING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4E9AF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GENERAL_CONVERSATION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02920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onsolas"/>
              </a:defRPr>
            </a:pPr>
            <a:r>
              <a:t>"movies like Inception"</a:t>
            </a:r>
            <a:br/>
            <a:r>
              <a:t>→ MOVIE_SIMILARITY</a:t>
            </a:r>
            <a:br/>
            <a:r>
              <a:t>→ entities: [{type: movie, value: "Inception"}]</a:t>
            </a:r>
            <a:br/>
            <a:r>
              <a:t>→ confidence: 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2 — Entity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Title normalization &amp; IMDb ID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What it does: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FFC107"/>
                </a:solidFill>
                <a:latin typeface="Segoe UI"/>
              </a:rPr>
              <a:t>▸ </a:t>
            </a:r>
            <a:r>
              <a:rPr sz="1600">
                <a:solidFill>
                  <a:srgbClr val="B0B0C0"/>
                </a:solidFill>
                <a:latin typeface="Segoe UI"/>
              </a:rPr>
              <a:t>Strips filler phrases from user input ("tell me about", "where can I watch"…)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FFC107"/>
                </a:solidFill>
                <a:latin typeface="Segoe UI"/>
              </a:rPr>
              <a:t>▸ </a:t>
            </a:r>
            <a:r>
              <a:rPr sz="1600">
                <a:solidFill>
                  <a:srgbClr val="B0B0C0"/>
                </a:solidFill>
                <a:latin typeface="Segoe UI"/>
              </a:rPr>
              <a:t>Resolves aliases: "Dark Knight" → "The Dark Knight", "Shawshank" → "The Shawshank Redemption"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FFC107"/>
                </a:solidFill>
                <a:latin typeface="Segoe UI"/>
              </a:rPr>
              <a:t>▸ </a:t>
            </a:r>
            <a:r>
              <a:rPr sz="1600">
                <a:solidFill>
                  <a:srgbClr val="B0B0C0"/>
                </a:solidFill>
                <a:latin typeface="Segoe UI"/>
              </a:rPr>
              <a:t>Infers entity type: movie, person, award_event, catalog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FFC107"/>
                </a:solidFill>
                <a:latin typeface="Segoe UI"/>
              </a:rPr>
              <a:t>▸ </a:t>
            </a:r>
            <a:r>
              <a:rPr sz="1600">
                <a:solidFill>
                  <a:srgbClr val="B0B0C0"/>
                </a:solidFill>
                <a:latin typeface="Segoe UI"/>
              </a:rPr>
              <a:t>Resolves movie titles to IMDb ID (tconst) via KB with fuzzy matching (≥90% threshold)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FFC107"/>
                </a:solidFill>
                <a:latin typeface="Segoe UI"/>
              </a:rPr>
              <a:t>▸ </a:t>
            </a:r>
            <a:r>
              <a:rPr sz="1600">
                <a:solidFill>
                  <a:srgbClr val="B0B0C0"/>
                </a:solidFill>
                <a:latin typeface="Segoe UI"/>
              </a:rPr>
              <a:t>Extracts year from message for disambiguation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FFC107"/>
                </a:solidFill>
                <a:latin typeface="Segoe UI"/>
              </a:rPr>
              <a:t>▸ </a:t>
            </a:r>
            <a:r>
              <a:rPr sz="1600">
                <a:solidFill>
                  <a:srgbClr val="B0B0C0"/>
                </a:solidFill>
                <a:latin typeface="Segoe UI"/>
              </a:rPr>
              <a:t>Detects public domain status (pre-1928 films)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FFC107"/>
                </a:solidFill>
                <a:latin typeface="Segoe UI"/>
              </a:rPr>
              <a:t>▸ </a:t>
            </a:r>
            <a:r>
              <a:rPr sz="1600">
                <a:solidFill>
                  <a:srgbClr val="B0B0C0"/>
                </a:solidFill>
                <a:latin typeface="Segoe UI"/>
              </a:rPr>
              <a:t>Attaches canonical_id (imdb_id) so all downstream tools get it for free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3 — Routing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Intent → Tool mapping with KB-first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What it does: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Maps each intent to required/optional/forbidden tools. Uses KB-first routing — local Parquet data is primary, external APIs are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200400" cy="4114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3200400"/>
            <a:ext cx="3200400" cy="4114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3200400"/>
            <a:ext cx="4297680" cy="4114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0F1A"/>
                </a:solidFill>
                <a:latin typeface="Segoe UI"/>
              </a:defRPr>
            </a:pPr>
            <a: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2186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0F1A"/>
                </a:solidFill>
                <a:latin typeface="Segoe UI"/>
              </a:defRPr>
            </a:pPr>
            <a:r>
              <a:t>Required (KB-first)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2186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0F1A"/>
                </a:solidFill>
                <a:latin typeface="Segoe UI"/>
              </a:defRPr>
            </a:pPr>
            <a:r>
              <a:t>Optional (Fallback)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698480" cy="34747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83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ENTITY_LOOKUP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83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kb_entity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68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imdb, wikipedia, watchmode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05072"/>
            <a:ext cx="10698480" cy="347472"/>
          </a:xfrm>
          <a:prstGeom prst="round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3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PLOT_EXPLANATION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03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kb_plot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030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kb_entity, wikipedia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52544"/>
            <a:ext cx="10698480" cy="34747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779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CRITIC_SUMMARY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3779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kb_critic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779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rt_reviews, web_search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00016"/>
            <a:ext cx="10698480" cy="347472"/>
          </a:xfrm>
          <a:prstGeom prst="round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254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MOVIE_SIMILARITY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7254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kb_similarity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725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similarity (API)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47488"/>
            <a:ext cx="10698480" cy="34747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72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TOP_RATED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072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kb_top_rated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72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imdb_top_rated_english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394960"/>
            <a:ext cx="10698480" cy="347472"/>
          </a:xfrm>
          <a:prstGeom prst="round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2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FILMOGRAPHY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42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kb_filmography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42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imdb_person, wikipedia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742432"/>
            <a:ext cx="10698480" cy="34747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7678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57678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kb_comparison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767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web_search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6089904"/>
            <a:ext cx="10698480" cy="347472"/>
          </a:xfrm>
          <a:prstGeom prst="round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115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STREAMING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6115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watchmode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1153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web_search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6437376"/>
            <a:ext cx="10698480" cy="34747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462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TRENDING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6462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web_search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6462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imdb_trending_tamil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4 &amp; 5 — Tool Executor &amp; Query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Parallel execution with caching + KB data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  <a:latin typeface="Segoe UI"/>
              </a:defRPr>
            </a:pPr>
            <a:r>
              <a:t>Tool Executor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Executes tools in parallel (asyncio.gather)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Built-in caching: metadata, streaming, similarity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Governance: validates tool calls, max 4 tools/request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Handles 18 tools (11 API + 7 KB)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Stores tool call traces for debugging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Cache hits skip API calls entirely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Segoe UI"/>
              </a:defRPr>
            </a:pPr>
            <a:r>
              <a:t>FilmDB Query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Central data access layer for all KB tools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Loads 7 Parquet layers once at startup (~400 MB)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Title → IMDb ID resolution (exact + fuzzy)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Provides: entity_lookup(), plot_analysis()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   critic_summary(), movie_similarity()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   top_rated(), person_filmography()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   compare_movies()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6 &amp; 7 — Layout Policy &amp; Response Formatter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Structured output with LLM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Layout Policy — Response Modes: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FULL_CARD: Complete movie card with poster, rating, streaming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MINIMAL_CARD: Lightweight card for download/legal queries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RECOMMENDATION_GRID: Grid of movie recommendations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EXPLANATION_ONLY: Text-only analytical response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ANALYSIS_TEXT: Plot/critic analysis (new)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FILMOGRAPHY_LIST: Person career listing (new)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COMPARISON_TABLE: Side-by-side movie comparison (new)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>
                <a:solidFill>
                  <a:srgbClr val="FFC107"/>
                </a:solidFill>
                <a:latin typeface="Segoe UI"/>
              </a:rPr>
              <a:t>▸ </a:t>
            </a:r>
            <a:r>
              <a:rPr sz="1400">
                <a:solidFill>
                  <a:srgbClr val="B0B0C0"/>
                </a:solidFill>
                <a:latin typeface="Segoe UI"/>
              </a:rPr>
              <a:t>AVAILABILITY_FOCUS: Streaming platform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9"/>
                </a:solidFill>
                <a:latin typeface="Segoe UI"/>
              </a:defRPr>
            </a:pPr>
            <a:r>
              <a:t>Response Formatter: Summarizes tool outputs → builds LLM prompt → generates natural language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Datasets &amp;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Multi-source movie knowledge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50800"/>
          </a:xfrm>
          <a:prstGeom prst="roundRect">
            <a:avLst/>
          </a:prstGeom>
          <a:solidFill>
            <a:srgbClr val="4E9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Segoe UI"/>
              </a:defRPr>
            </a:pPr>
            <a:r>
              <a:t>IMDb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title.basics, ratings,</a:t>
            </a:r>
            <a:br/>
            <a:r>
              <a:t>principals, crew,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12.3M titles</a:t>
            </a:r>
            <a:br/>
            <a:r>
              <a:t>730K movies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Raw Size: ~5 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661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66160" cy="50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TMDB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Movie metadata v11</a:t>
            </a:r>
            <a:br/>
            <a:r>
              <a:t>(overview, poster, budget)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23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1.4M movies</a:t>
            </a:r>
            <a:br/>
            <a:r>
              <a:t>347K matched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Raw Size: 1.2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5661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566160" cy="508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MovieLens 32M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23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User ratings + tags</a:t>
            </a:r>
            <a:br/>
            <a:r>
              <a:t>(GroupLens research)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423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32M ratings</a:t>
            </a:r>
            <a:br/>
            <a:r>
              <a:t>87K movies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Raw Size: 1.1 GB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35661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206240"/>
            <a:ext cx="3566160" cy="50800"/>
          </a:xfrm>
          <a:prstGeom prst="roundRect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A65"/>
                </a:solidFill>
                <a:latin typeface="Segoe UI"/>
              </a:defRPr>
            </a:pPr>
            <a:r>
              <a:t>Rotten Tomatoes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00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Critic reviews +</a:t>
            </a:r>
            <a:br/>
            <a:r>
              <a:t>sentiment 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800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1M reviews</a:t>
            </a:r>
            <a:br/>
            <a:r>
              <a:t>143K movies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Raw Size: 1 GB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206240"/>
            <a:ext cx="35661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43400" y="4206240"/>
            <a:ext cx="3566160" cy="508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Wikipedia Plots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800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Full movie plot</a:t>
            </a:r>
            <a:br/>
            <a:r>
              <a:t>summaries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00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35K plots</a:t>
            </a:r>
            <a:br/>
            <a:r>
              <a:t>29.7K matched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Raw Size: 86 MB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206240"/>
            <a:ext cx="35661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38160" y="4206240"/>
            <a:ext cx="3566160" cy="5080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5350"/>
                </a:solidFill>
                <a:latin typeface="Segoe UI"/>
              </a:defRPr>
            </a:pPr>
            <a:r>
              <a:t>Indian Movies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800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Regional cinema</a:t>
            </a:r>
            <a:br/>
            <a:r>
              <a:t>(Hindi, Tamil, etc.)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4800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50.6K films</a:t>
            </a:r>
            <a:br/>
            <a:r>
              <a:t>7 languages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Raw Size: 9.5 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KB Mapping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Raw datasets → 7 canonical Parquet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840480" cy="4114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1371600" cy="4114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920240"/>
            <a:ext cx="1097280" cy="4114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920240"/>
            <a:ext cx="4754880" cy="4114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0F1A"/>
                </a:solidFill>
                <a:latin typeface="Segoe UI"/>
              </a:defRPr>
            </a:pPr>
            <a:r>
              <a:t>Output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385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0F1A"/>
                </a:solidFill>
                <a:latin typeface="Segoe UI"/>
              </a:defRPr>
            </a:pPr>
            <a:r>
              <a:t>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9385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0F1A"/>
                </a:solidFill>
                <a:latin typeface="Segoe UI"/>
              </a:defRPr>
            </a:pPr>
            <a:r>
              <a:t>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38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0F1A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77440"/>
            <a:ext cx="1106424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155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onsolas"/>
              </a:defRPr>
            </a:pPr>
            <a:r>
              <a:t>movie_entity.parquet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155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730K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155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21.5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155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Master movie table (IMDb ID primary key)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34640"/>
            <a:ext cx="11064240" cy="457200"/>
          </a:xfrm>
          <a:prstGeom prst="round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727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onsolas"/>
              </a:defRPr>
            </a:pPr>
            <a:r>
              <a:t>person_index.parquet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727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2.37M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8727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162.3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8727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Pre-aggregated person filmography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91840"/>
            <a:ext cx="1106424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299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onsolas"/>
              </a:defRPr>
            </a:pPr>
            <a:r>
              <a:t>metadata_layer.parquet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299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347K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3299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87.8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3299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TMDB enrichment (overview, poster…)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49040"/>
            <a:ext cx="11064240" cy="457200"/>
          </a:xfrm>
          <a:prstGeom prst="round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71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onsolas"/>
              </a:defRPr>
            </a:pPr>
            <a:r>
              <a:t>plot_layer.parquet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7871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29.7K 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7871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39.6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7871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Wikipedia full plot summaries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06240"/>
            <a:ext cx="1106424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443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onsolas"/>
              </a:defRPr>
            </a:pPr>
            <a:r>
              <a:t>review_layer.parquet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2443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927K rows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2443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80.5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2443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Rotten Tomatoes critic reviews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663440"/>
            <a:ext cx="11064240" cy="457200"/>
          </a:xfrm>
          <a:prstGeom prst="round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7015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onsolas"/>
              </a:defRPr>
            </a:pPr>
            <a:r>
              <a:t>recommendation_layer.parquet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7015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87.6K rows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7015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4.5 MB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7015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MovieLens aggregated ratings/tags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120640"/>
            <a:ext cx="1106424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1587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onsolas"/>
              </a:defRPr>
            </a:pPr>
            <a:r>
              <a:t>regional_layer.parquet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1587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50.6K rows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51587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1.3 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1587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Indian cinema regional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9"/>
                </a:solidFill>
                <a:latin typeface="Segoe UI"/>
              </a:defRPr>
            </a:pPr>
            <a:r>
              <a:t>Total output: ~400 MB Parquet  |  Pipeline runtime: ~14 minutes  |  IMDb ID (tconst) as global 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40080" cy="6400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F0F1A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APIs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18 tools — 7 KB-powered + 11 API-based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KB Tools (Local, Instant)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00D4AA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kb_entity — Movie metadata from Parquet KB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00D4AA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kb_plot — Wikipedia plot text retrieval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00D4AA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kb_critic — RT review aggregation + sentiment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00D4AA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kb_similarity — MovieLens tag-based similarity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00D4AA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kb_top_rated — Genre/year/language filtered ranking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00D4AA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kb_filmography — Person career from 2.4M person index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00D4AA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kb_comparison — Side-by-side two-movie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A65"/>
                </a:solidFill>
                <a:latin typeface="Segoe UI"/>
              </a:defRPr>
            </a:pPr>
            <a:r>
              <a:t>API Tools (Live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imdb (TMDB) — Live movie metadata + poster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wikipedia — Live Wikipedia summaries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watchmode — Streaming availability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similarity — TMDB-based recommendations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web_search — Serper API for live search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rt_reviews — Rotten Tomatoes live reviews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imdb_person — TMDB person lookup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imdb_trending_tamil — Trending Tamil movies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imdb_top_rated_english — Top rated English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imdb_upcoming — Upcoming releases by region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>
                <a:solidFill>
                  <a:srgbClr val="FF8A65"/>
                </a:solidFill>
                <a:latin typeface="Segoe UI"/>
              </a:rPr>
              <a:t>▸ </a:t>
            </a:r>
            <a:r>
              <a:rPr sz="1300">
                <a:solidFill>
                  <a:srgbClr val="B0B0C0"/>
                </a:solidFill>
                <a:latin typeface="Segoe UI"/>
              </a:rPr>
              <a:t>archive — Internet Archive public domain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C107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Segoe UI"/>
              </a:rPr>
              <a:t>▸ </a:t>
            </a:r>
            <a:r>
              <a:rPr sz="1800">
                <a:solidFill>
                  <a:srgbClr val="B0B0C0"/>
                </a:solidFill>
                <a:latin typeface="Segoe UI"/>
              </a:rPr>
              <a:t>Deterministic pipeline: Intent → Entity → Route → Execute → Format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Segoe UI"/>
              </a:rPr>
              <a:t>▸ </a:t>
            </a:r>
            <a:r>
              <a:rPr sz="1800">
                <a:solidFill>
                  <a:srgbClr val="B0B0C0"/>
                </a:solidFill>
                <a:latin typeface="Segoe UI"/>
              </a:rPr>
              <a:t>KB-first architecture: 7 Parquet layers (400 MB) for instant local data access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Segoe UI"/>
              </a:rPr>
              <a:t>▸ </a:t>
            </a:r>
            <a:r>
              <a:rPr sz="1800">
                <a:solidFill>
                  <a:srgbClr val="B0B0C0"/>
                </a:solidFill>
                <a:latin typeface="Segoe UI"/>
              </a:rPr>
              <a:t>18 tools total: 7 KB-powered (instant) + 11 API-based (live fallback)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Segoe UI"/>
              </a:rPr>
              <a:t>▸ </a:t>
            </a:r>
            <a:r>
              <a:rPr sz="1800">
                <a:solidFill>
                  <a:srgbClr val="B0B0C0"/>
                </a:solidFill>
                <a:latin typeface="Segoe UI"/>
              </a:rPr>
              <a:t>730K movies, 2.4M people, 927K reviews — all keyed by IMDb ID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Segoe UI"/>
              </a:rPr>
              <a:t>▸ </a:t>
            </a:r>
            <a:r>
              <a:rPr sz="1800">
                <a:solidFill>
                  <a:srgbClr val="B0B0C0"/>
                </a:solidFill>
                <a:latin typeface="Segoe UI"/>
              </a:rPr>
              <a:t>Extensible: analysis_layer placeholder ready for web-scraped articles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Segoe UI"/>
              </a:rPr>
              <a:t>▸ </a:t>
            </a:r>
            <a:r>
              <a:rPr sz="1800">
                <a:solidFill>
                  <a:srgbClr val="B0B0C0"/>
                </a:solidFill>
                <a:latin typeface="Segoe UI"/>
              </a:rPr>
              <a:t>Traceable: every request produces a full debug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669280"/>
            <a:ext cx="3931920" cy="254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FilmDB — Personalised Cinematic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